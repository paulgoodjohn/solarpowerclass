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reusable modular curriculum. For a homeowner-focused workshop, use the companion FirstBuild edition.
[Sources]
Intuitive Energy original presentation branding; technical materials cited throughout.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sections are intended to be selected and re-ordered depending on audience.
[Sources]
Training program design: Intuitive Energy.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module is not a complete solar power system.
[Sources]
Source: Solar Cell Technologies – Physical Background (Fraunhofer ISE training, provided, pp. 2–4); DOE PV Technology Basics: https://www.energy.gov/cmei/systems/solar-photovoltaic-technology-basics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 to distinguish a power-rate metric from an energy-over-time metric. A cloud changes irradiance in seconds. Solar resource is integrated over time.
[Sources]
Source: Solar Cell Technologies – Physical Background (Fraunhofer ISE training, provided, pp. 2–4); DOE PV Technology Basics: https://www.energy.gov/cmei/systems/solar-photovoltaic-technology-basics; DOE Solar Radiation Basics.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simplification: real cells differ in junction placement and carrier-selective contacts. The physical principle is absorption, separation, and collection.
[Sources]
Source: Solar Cell Technologies – Physical Background (Fraunhofer ISE training, provided, pp. 2–4); DOE PV Technology Basics: https://www.energy.gov/cmei/systems/solar-photovoltaic-technology-basics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400 W panel does not continuously make 400 W. Nameplate power is defined under laboratory conditions.
[Sources]
Source: Solar Cell Technologies – Physical Background (Fraunhofer ISE training, provided, pp. 2–4); DOE PV Technology Basics: https://www.energy.gov/cmei/systems/solar-photovoltaic-technology-basics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temperature is often much hotter than ambient air temperature in sun. Conditions on a roof rarely match STC.
[Sources]
Source: Solar Cell Quality and Reliability Control (Fraunhofer ISE training, provided, pp. 4–45); Module Characterization and Reliability (provided, pp. 2–46).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can a clear cold day produce unusually strong PV power?
[Sources]
Source: Solar Cell Technologies – Physical Background (Fraunhofer ISE training, provided, pp. 2–4); DOE PV Technology Basics: https://www.energy.gov/cmei/systems/solar-photovoltaic-technology-basics; Source: Solar Cell Quality and Reliability Control (Fraunhofer ISE training, provided, pp. 4–45); Module Characterization and Reliability (provided, pp. 2–46).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Newer contact concepts aim to reduce recombination and resistive/optical losses.
[Sources]
Source: Solar Cell Technologies – Crystalline Silicon Solar Cells (Fraunhofer ISE training, provided, pp. 6–26).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All-layer exploded diagram is newly drawn. Not to scale. Variants include double-glass, frameless and specific polymer stacks.
[Sources]
Source: Module Production Process (Fraunhofer ISE training, provided, pp. 2–24); PV Technology Training (provided, pp. 6–7, 15–16).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DIY safety prompt: a bypass diode is not a rapid-shutdown device. Connectors that physically mate may still lack approved compatibility.
[Sources]
Source: Module Production Process (Fraunhofer ISE training, provided, pp. 2–24); PV Technology Training (provided, pp. 6–7, 15–16).; 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illustrative series schematic does not imply modules should be connected without proper design; rapid shutdown and disconnect rules apply.
[Sources]
Source: Module Production Process (Fraunhofer ISE training, provided, pp. 2–24); PV Technology Training (provided, pp. 6–7, 15–16).; Source: DOE Solar PV System Design Basics: https://www.energy.gov/cmei/systems/solar-photovoltaic-system-design-basics; DOE Solar PV Technology Basics.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teaching exercise: show a real datasheet and ask participants to identify Voc, Isc and maximum permissible series-fuse rating.
[Sources]
Source: Module Production Process (Fraunhofer ISE training, provided, pp. 2–24); PV Technology Training (provided, pp. 6–7, 15–16).; 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 is original and schematic, not an actual EL image. EL grading needs product-specific acceptance criteria, lighting/current protocol and trained review.
[Sources]
Source: Solar Cell Quality and Reliability Control (Fraunhofer ISE training, provided, pp. 4–45); Module Characterization and Reliability (provided, pp. 2–46).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Failures are driven by stress interactions, not one isolated exposure. Certification tests accelerate stress but do not directly certify an exact field lifetime.
[Sources]
Source: Module Characterization and Reliability (Fraunhofer ISE training, provided, pp. 3–46); Solar Cell Quality and Reliability Control (pp. 43–45).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UL 61730 applies in relevant US certification contexts; verify applicable national deviations and code adoption. Neither test guarantees 25 years with no failure.
[Sources]
Source: UL PV Module Certification: https://www.ul.com/services/pv-module-certification; applicable adopted NEC, local building code, utility and AHJ requirements must be verified per project.; Source: Module Characterization and Reliability (Fraunhofer ISE training, provided, pp. 3–46); Solar Cell Quality and Reliability Control (pp. 43–45).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is conceptual, not a wiring diagram. Grid interactive systems require utility approval, approved equipment, protection, disconnects and commissioning.
[Sources]
Source: DOE Solar PV System Design Basics: https://www.energy.gov/cmei/systems/solar-photovoltaic-system-design-basics; DOE Solar PV Technology Basics.; 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Module-level electronics do not eliminate all electrical hazards; specific equipment and code-compliant rapid shutdown are required.
[Sources]
Source: DOE Solar PV System Design Basics: https://www.energy.gov/cmei/systems/solar-photovoltaic-system-design-basics; DOE Solar PV Technology Basics.; 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battery adds operational flexibility, not unlimited backup.
[Sources]
Source: DOE Solar PV System Design Basics: https://www.energy.gov/cmei/systems/solar-photovoltaic-system-design-basics; DOE Solar PV Technology Basics.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professional roof/structural assessment and code-compliant mounting details are project requirements. Diagram is conceptual, not a proposed rooftop layout.
[Sources]
Source: DOE Solar PV System Design Basics: https://www.energy.gov/cmei/systems/solar-photovoltaic-system-design-basics; DOE Solar PV Technology Basics.; 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framework, not a jurisdiction-specific compliance checklist. Verify local adopted code edition and utility program before procurement.
[Sources]
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Convey this clearly to homeowners: this is a technical introduction, not a DIY instruction to handle live DC systems or connect to the grid.
[Sources]
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DIY-friendly work is education, site data and design choices—not unqualified energized work.
[Sources]
Source: DOE Solar PV System Design Basics: https://www.energy.gov/cmei/systems/solar-photovoltaic-system-design-basics; DOE Solar PV Technology Basics.; 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calculation: 9600 / 1300 = 7.38 kWdc. The chosen 1300 kWh/kW-year is an illustrative input, not a Kentucky or national average.
[Sources]
Source: PVWatts V8 API documentation: https://developer.nlr.gov/docs/solar/pvwatts/v8/; https://pvwatts.nrel.gov/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update verified against IRS public guidance in October 2026. Older training slides included incentives that have since changed. Do not give individualized tax advice.
[Sources]
Source: Internal Revenue Service Residential Clean Energy Credit: https://www.irs.gov/credits-deductions/residential-clean-energy-credit; IRS Public Law 119-21 FAQs: https://www.irs.gov/newsroom/faqs-for-modification-of-sections-25c-25d-25e-30c-30d-45l-45w-and-179d-under-public-law-119-21-139-stat-72-july-4-2025-commonly-known-as-the-one-big-beautiful-bill-obbb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discussion. Ask participants to rank their top three risk areas.
[Sources]
Source: DOE Solar PV System Design Basics: https://www.energy.gov/cmei/systems/solar-photovoltaic-system-design-basics; DOE Solar PV Technology Basics.; Source: UL PV Module Certification: https://www.ul.com/services/pv-module-certification; applicable adopted NEC, local building code, utility and AHJ requirements must be verified per project.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which part of the PV system creates the greatest perceived risk for the audience.
[Sources]
Intuitive Energy training synthesis.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are also in speaker notes on individual slides. Check scope of reuse permissions before public dissemination.
[Sources]
Source: Solar Cell Technologies – Physical Background (Fraunhofer ISE training, provided, pp. 2–4); DOE PV Technology Basics: https://www.energy.gov/cmei/systems/solar-photovoltaic-technology-basics
Source: Solar Cell Technologies – Crystalline Silicon Solar Cells (Fraunhofer ISE training, provided, pp. 6–26).
Source: Module Production Process (Fraunhofer ISE training, provided, pp. 2–24); PV Technology Training (provided, pp. 6–7, 15–16).
Source: Solar Cell Quality and Reliability Control (Fraunhofer ISE training, provided, pp. 4–45); Module Characterization and Reliability (provided, pp. 2–46).
Source: Module Characterization and Reliability (Fraunhofer ISE training, provided, pp. 3–46); Solar Cell Quality and Reliability Control (pp. 43–45).
Source: DOE Solar PV System Design Basics: https://www.energy.gov/cmei/systems/solar-photovoltaic-system-design-basics; DOE Solar PV Technology Basics.
Source: UL PV Module Certification: https://www.ul.com/services/pv-module-certification; applicable adopted NEC, local building code, utility and AHJ requirements must be verified per project.
Source: Analyzing Impact of Modules with Different Wafer Sizes on LCOE, Trina Solar / Fraunhofer ISE webinar (provided, pp. 2–23); project-specific economics are not transferrable without new assumptions.
Source: Internal Revenue Service Residential Clean Energy Credit: https://www.irs.gov/credits-deductions/residential-clean-energy-credit; IRS Public Law 119-21 FAQs: https://www.irs.gov/newsroom/faqs-for-modification-of-sections-25c-25d-25e-30c-30d-45l-45w-and-179d-under-public-law-119-21-139-stat-72-july-4-2025-commonly-known-as-the-one-big-beautiful-bill-obbb
Source: PVWatts V8 API documentation: https://developer.nlr.gov/docs/solar/pvwatts/v8/; https://pvwatts.nrel.gov/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6304"/>
          </a:xfrm>
          <a:prstGeom prst="rect">
            <a:avLst>
              <a:gd name="adj" fmla="val 75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pic>
        <p:nvPicPr>
          <p:cNvPr id="3" name="Image 0" descr="/mnt/data/ie_pv_work/assets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026" y="585216"/>
            <a:ext cx="5577517" cy="1280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2194560"/>
            <a:ext cx="100584" cy="2560320"/>
          </a:xfrm>
          <a:prstGeom prst="rect">
            <a:avLst>
              <a:gd name="adj" fmla="val 109091"/>
            </a:avLst>
          </a:prstGeom>
          <a:solidFill>
            <a:srgbClr val="EF4731"/>
          </a:solidFill>
          <a:ln w="12700">
            <a:solidFill>
              <a:srgbClr val="EF4731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3000" y="2176272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spc="100" kern="0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PHOTOVOLTAIC</a:t>
            </a:r>
            <a:endParaRPr lang="en-US" sz="4700" dirty="0"/>
          </a:p>
        </p:txBody>
      </p:sp>
      <p:sp>
        <p:nvSpPr>
          <p:cNvPr id="6" name="Text 3"/>
          <p:cNvSpPr/>
          <p:nvPr/>
        </p:nvSpPr>
        <p:spPr>
          <a:xfrm>
            <a:off x="1143000" y="29718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spc="100" kern="0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TECHNOLOGY</a:t>
            </a:r>
            <a:endParaRPr lang="en-US" sz="4700" dirty="0"/>
          </a:p>
        </p:txBody>
      </p:sp>
      <p:sp>
        <p:nvSpPr>
          <p:cNvPr id="7" name="Text 4"/>
          <p:cNvSpPr/>
          <p:nvPr/>
        </p:nvSpPr>
        <p:spPr>
          <a:xfrm>
            <a:off x="1170432" y="41513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Fundamentals  /  Modules  /  Quality  /  Reliability  /  Systems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43000" y="4910328"/>
            <a:ext cx="9738360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52144" y="51755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FIRSTBUILD / GE  •  DIY HOME SOLAR TECHNOLOGY OVERVIEW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61288" y="5971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Prepared by Intuitive Energy   | 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COURSE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Today’s learning route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practical technical overview for DIY solar decision-makers.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057400"/>
            <a:ext cx="3575304" cy="3840480"/>
          </a:xfrm>
          <a:prstGeom prst="roundRect">
            <a:avLst>
              <a:gd name="adj" fmla="val 3836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3134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 / UNDERSTAND THE TECHNOLOGY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" y="290779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PV fundamentals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7824" y="3520440"/>
            <a:ext cx="32004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From sunlight to DC, watts and modules.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77824" y="4992624"/>
            <a:ext cx="3172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What do module ratings really mean?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17136" y="2057400"/>
            <a:ext cx="3575304" cy="3840480"/>
          </a:xfrm>
          <a:prstGeom prst="roundRect">
            <a:avLst>
              <a:gd name="adj" fmla="val 3836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3134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 / CHOOSE RELIABLE HARDWARE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290779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Materials + reliability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3520440"/>
            <a:ext cx="32004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Module layers, failure modes, qualification.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09160" y="4992624"/>
            <a:ext cx="3172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Which product details deserve scrutiny?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48472" y="2057400"/>
            <a:ext cx="3575304" cy="3840480"/>
          </a:xfrm>
          <a:prstGeom prst="roundRect">
            <a:avLst>
              <a:gd name="adj" fmla="val 3836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0496" y="23134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 / PLAN A HOME SYSTEM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40496" y="290779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Design + safety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40496" y="3520440"/>
            <a:ext cx="32004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Inverters, rooftops, code and approvals.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40496" y="4992624"/>
            <a:ext cx="31729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Which decisions require professionals?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  TECHNOLOGY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PV in four definitions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12648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SOLAR CELL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Semiconductor device that converts absorbed photons into DC electric current.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2012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4892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50964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PV MODULE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2324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Interconnected cells sealed into an outdoor-rated product.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PV ARRAY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Multiple modules connected into strings and/or parallel circuits.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2012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4892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50964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PV SYSTEM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2324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Modules plus racking, inverters, protection, wiring and optional storage.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  TECHNOLOGY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Sunlight: power arriving at the module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Distinguish the sunlight hitting the panel from the electricity it delivers.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084832"/>
            <a:ext cx="5303520" cy="3493008"/>
          </a:xfrm>
          <a:prstGeom prst="roundRect">
            <a:avLst>
              <a:gd name="adj" fmla="val 3927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1288" y="2459736"/>
            <a:ext cx="1014984" cy="1014984"/>
          </a:xfrm>
          <a:prstGeom prst="ellipse">
            <a:avLst/>
          </a:prstGeom>
          <a:solidFill>
            <a:srgbClr val="FDA8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0632" y="2816352"/>
            <a:ext cx="1316736" cy="530352"/>
          </a:xfrm>
          <a:prstGeom prst="line">
            <a:avLst/>
          </a:prstGeom>
          <a:noFill/>
          <a:ln w="2540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70632" y="3264408"/>
            <a:ext cx="1316736" cy="365760"/>
          </a:xfrm>
          <a:prstGeom prst="line">
            <a:avLst/>
          </a:prstGeom>
          <a:noFill/>
          <a:ln w="2540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70632" y="3712464"/>
            <a:ext cx="1316736" cy="201168"/>
          </a:xfrm>
          <a:prstGeom prst="line">
            <a:avLst/>
          </a:prstGeom>
          <a:noFill/>
          <a:ln w="2540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70632" y="4160520"/>
            <a:ext cx="1316736" cy="36576"/>
          </a:xfrm>
          <a:prstGeom prst="line">
            <a:avLst/>
          </a:prstGeom>
          <a:noFill/>
          <a:ln w="2540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70248" y="2971800"/>
            <a:ext cx="1188720" cy="1975104"/>
          </a:xfrm>
          <a:prstGeom prst="rect">
            <a:avLst>
              <a:gd name="adj" fmla="val 9231"/>
            </a:avLst>
          </a:prstGeom>
          <a:solidFill>
            <a:srgbClr val="25333C"/>
          </a:solidFill>
          <a:ln w="12700">
            <a:solidFill>
              <a:srgbClr val="25333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3575" y="3075127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98264" y="314553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3575" y="3254350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8264" y="332475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3575" y="3433572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8264" y="3503981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3575" y="3612794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98264" y="368320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3575" y="3792017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98264" y="386242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3575" y="3971239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8264" y="404164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3575" y="4150462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98264" y="4220870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3575" y="4329684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8264" y="440009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3575" y="4508906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98264" y="4579315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73575" y="4688129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98264" y="475853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41215" y="3075127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65904" y="314553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1215" y="3254350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65904" y="332475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41215" y="3433572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65904" y="3503981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41215" y="3612794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65904" y="368320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41215" y="3792017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65904" y="386242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41215" y="3971239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65904" y="404164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41215" y="4150462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65904" y="4220870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41215" y="4329684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65904" y="440009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41215" y="4508906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65904" y="4579315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41215" y="4688129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65904" y="475853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8855" y="3075127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33544" y="314553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8855" y="3254350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33544" y="332475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08855" y="3433572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33544" y="3503981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8855" y="3612794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33544" y="368320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08855" y="3792017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33544" y="386242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08855" y="3971239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33544" y="404164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08855" y="4150462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33544" y="4220870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08855" y="4329684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33544" y="440009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8855" y="4508906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33544" y="4579315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08855" y="4688129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33544" y="475853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76495" y="3075127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01184" y="314553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76495" y="3254350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01184" y="332475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76495" y="3433572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01184" y="3503981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876495" y="3612794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901184" y="368320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76495" y="3792017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01184" y="386242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876495" y="3971239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901184" y="404164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76495" y="4150462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01184" y="4220870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76495" y="4329684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901184" y="440009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876495" y="4508906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901184" y="4579315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876495" y="4688129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901184" y="475853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44135" y="3075127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068824" y="314553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44135" y="3254350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68824" y="332475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44135" y="3433572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068824" y="3503981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044135" y="3612794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068824" y="368320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044135" y="3792017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068824" y="386242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044135" y="3971239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068824" y="404164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44135" y="4150462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068824" y="4220870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044135" y="4329684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068824" y="440009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044135" y="4508906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068824" y="4579315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044135" y="4688129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068824" y="475853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211775" y="3075127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236464" y="314553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211775" y="3254350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236464" y="332475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211775" y="3433572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36464" y="3503981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211775" y="3612794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236464" y="368320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211775" y="3792017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236464" y="3862426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211775" y="3971239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236464" y="404164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11775" y="4150462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236464" y="4220870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211775" y="4329684"/>
            <a:ext cx="144780" cy="157277"/>
          </a:xfrm>
          <a:prstGeom prst="rect">
            <a:avLst>
              <a:gd name="adj" fmla="val 75789"/>
            </a:avLst>
          </a:prstGeom>
          <a:solidFill>
            <a:srgbClr val="23577F"/>
          </a:solidFill>
          <a:ln w="12700">
            <a:solidFill>
              <a:srgbClr val="23577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236464" y="4400093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11775" y="4508906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6464" y="4579315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11775" y="4688129"/>
            <a:ext cx="144780" cy="157277"/>
          </a:xfrm>
          <a:prstGeom prst="rect">
            <a:avLst>
              <a:gd name="adj" fmla="val 75789"/>
            </a:avLst>
          </a:prstGeom>
          <a:solidFill>
            <a:srgbClr val="21486D"/>
          </a:solidFill>
          <a:ln w="12700">
            <a:solidFill>
              <a:srgbClr val="21486D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6464" y="4758538"/>
            <a:ext cx="94488" cy="0"/>
          </a:xfrm>
          <a:prstGeom prst="line">
            <a:avLst/>
          </a:prstGeom>
          <a:noFill/>
          <a:ln w="3810">
            <a:solidFill>
              <a:srgbClr val="6D8EA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4465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IRRADIANCE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6446520" y="27249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Instantaneous sunlight intensity</a:t>
            </a:r>
            <a:endParaRPr lang="en-US" sz="1700" dirty="0"/>
          </a:p>
        </p:txBody>
      </p:sp>
      <p:sp>
        <p:nvSpPr>
          <p:cNvPr id="140" name="Text 138"/>
          <p:cNvSpPr/>
          <p:nvPr/>
        </p:nvSpPr>
        <p:spPr>
          <a:xfrm>
            <a:off x="6446520" y="3163824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W/m²</a:t>
            </a:r>
            <a:endParaRPr lang="en-US" sz="2800" dirty="0"/>
          </a:p>
        </p:txBody>
      </p:sp>
      <p:sp>
        <p:nvSpPr>
          <p:cNvPr id="141" name="Shape 139"/>
          <p:cNvSpPr/>
          <p:nvPr/>
        </p:nvSpPr>
        <p:spPr>
          <a:xfrm>
            <a:off x="6446520" y="3895344"/>
            <a:ext cx="482803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446520" y="4169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INSOLATION / IRRADIATION</a:t>
            </a:r>
            <a:endParaRPr lang="en-US" sz="2100" dirty="0"/>
          </a:p>
        </p:txBody>
      </p:sp>
      <p:sp>
        <p:nvSpPr>
          <p:cNvPr id="143" name="Text 141"/>
          <p:cNvSpPr/>
          <p:nvPr/>
        </p:nvSpPr>
        <p:spPr>
          <a:xfrm>
            <a:off x="6446520" y="46451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Sunlight energy received over time  •  kWh/m²/day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  TECHNOLOGY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How a silicon solar cell makes electricity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Photons generate free charge carriers; the cell separates and collects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6446520" cy="3877056"/>
          </a:xfrm>
          <a:prstGeom prst="roundRect">
            <a:avLst>
              <a:gd name="adj" fmla="val 3538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017520"/>
            <a:ext cx="5138928" cy="374904"/>
          </a:xfrm>
          <a:prstGeom prst="rect">
            <a:avLst>
              <a:gd name="adj" fmla="val 29268"/>
            </a:avLst>
          </a:prstGeom>
          <a:solidFill>
            <a:srgbClr val="6EB4CE"/>
          </a:solidFill>
          <a:ln w="12700">
            <a:solidFill>
              <a:srgbClr val="6EB4C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3392424"/>
            <a:ext cx="5138928" cy="1124712"/>
          </a:xfrm>
          <a:prstGeom prst="rect">
            <a:avLst>
              <a:gd name="adj" fmla="val 9756"/>
            </a:avLst>
          </a:prstGeom>
          <a:solidFill>
            <a:srgbClr val="2D6D9B"/>
          </a:solidFill>
          <a:ln w="12700">
            <a:solidFill>
              <a:srgbClr val="2D6D9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4517136"/>
            <a:ext cx="5138928" cy="265176"/>
          </a:xfrm>
          <a:prstGeom prst="rect">
            <a:avLst>
              <a:gd name="adj" fmla="val 41379"/>
            </a:avLst>
          </a:prstGeom>
          <a:solidFill>
            <a:srgbClr val="242D33"/>
          </a:solidFill>
          <a:ln w="12700">
            <a:solidFill>
              <a:srgbClr val="242D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90472" y="27797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Front contact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33924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n-type emitter / junction region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72184" y="389534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Silicon absorber (p- or n-type base)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4864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Rear contact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01952" y="2286000"/>
            <a:ext cx="0" cy="685800"/>
          </a:xfrm>
          <a:prstGeom prst="line">
            <a:avLst/>
          </a:prstGeom>
          <a:noFill/>
          <a:ln w="2286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011680" y="3813048"/>
            <a:ext cx="118872" cy="118872"/>
          </a:xfrm>
          <a:prstGeom prst="ellipse">
            <a:avLst/>
          </a:prstGeom>
          <a:solidFill>
            <a:srgbClr val="FDA8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6392" y="2286000"/>
            <a:ext cx="0" cy="685800"/>
          </a:xfrm>
          <a:prstGeom prst="line">
            <a:avLst/>
          </a:prstGeom>
          <a:noFill/>
          <a:ln w="2286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46120" y="3813048"/>
            <a:ext cx="118872" cy="118872"/>
          </a:xfrm>
          <a:prstGeom prst="ellipse">
            <a:avLst/>
          </a:prstGeom>
          <a:solidFill>
            <a:srgbClr val="FDA8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2286000"/>
            <a:ext cx="0" cy="685800"/>
          </a:xfrm>
          <a:prstGeom prst="line">
            <a:avLst/>
          </a:prstGeom>
          <a:noFill/>
          <a:ln w="2286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80560" y="3813048"/>
            <a:ext cx="118872" cy="118872"/>
          </a:xfrm>
          <a:prstGeom prst="ellipse">
            <a:avLst/>
          </a:prstGeom>
          <a:solidFill>
            <a:srgbClr val="FDA8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231136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121408"/>
            <a:ext cx="3785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ABSORB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726680" y="2432304"/>
            <a:ext cx="3739896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photon above the silicon bandgap can create an electron–hole pair.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52360" y="3413760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3304032"/>
            <a:ext cx="3785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SEPARATE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726680" y="3614928"/>
            <a:ext cx="3739896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Junction and selective contacts help separate charge carriers.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52360" y="4596384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4486656"/>
            <a:ext cx="3785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COLLECT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726680" y="4797552"/>
            <a:ext cx="3739896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Contacts drive usable DC electricity through an external circuit.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  TECHNOLOGY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Watts, kilowatts and kilowatt-hours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Power is a rate. Energy accumulates as that power is delivered over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139696"/>
            <a:ext cx="3337560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231136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941832" y="299923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Instantaneous power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2139696"/>
            <a:ext cx="3337560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231136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kW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4599432" y="299923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1,000 watts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2139696"/>
            <a:ext cx="3337560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231136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kWh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8257032" y="299923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Power × 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977640"/>
            <a:ext cx="10607040" cy="1408176"/>
          </a:xfrm>
          <a:prstGeom prst="roundRect">
            <a:avLst>
              <a:gd name="adj" fmla="val 9740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97864" y="426110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Example:  2.0 kW  ×  3 hours  =  6.0 kWh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43000" y="55138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DC comes from the modules; an inverter supplies AC for typical home loads.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  TECHNOLOGY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What does a module watt rating mean?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STC enables apples-to-apples comparisons; it is not a weather forecast.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093976"/>
            <a:ext cx="3364992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85416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1,000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941832" y="295351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W/m² irradiance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5696" y="2093976"/>
            <a:ext cx="3364992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185416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25°C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4590288" y="295351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Cell temperature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83296" y="2093976"/>
            <a:ext cx="3364992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185416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AM1.5G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8247888" y="295351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Reference spectrum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069080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959352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STC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270248"/>
            <a:ext cx="982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controlled reference point for comparing labeled DC power.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4983480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873752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FIELD CONDITIONS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5184648"/>
            <a:ext cx="982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Roof temperature, sunlight angle, shading, soiling and wiring change power.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  TECHNOLOGY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How weather changes the output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Sunlight largely controls current; hotter cells typically reduce voltage and power.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MORE SUN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More light generally raises current and available power.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2012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4892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50964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HOTTER MODULE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2324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Voltage drops as cell temperature rises, reducing peak power.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71600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SHADOW / SOILING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Localized shading can constrain a whole series string; dirt creates optical loss.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2012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4892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50964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SPECTRUM + ANGLE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2324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Air mass, reflection and incidence angle also affect the result.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  CELL TECHNOLOGIES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Cell designs: why architectures evolve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12648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PERC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Passivated emitter and rear cell; mature benchmark technology.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2012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4892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50964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TOPCon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2324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Tunnel-oxide passivated contact; high-efficiency n-type platform.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HJT / SHJ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Silicon heterojunction with thin amorphous-silicon layers.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2012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4892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50964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IBC / BACK-CONTACT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2324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Moves electrical contacts to rear to reduce front shading.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  MODULE CONSTRUCTION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Anatomy of a PV module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Layers perform different optical, electrical, mechanical and sealing roles.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67712" y="2048256"/>
            <a:ext cx="4663440" cy="420624"/>
          </a:xfrm>
          <a:prstGeom prst="roundRect">
            <a:avLst>
              <a:gd name="adj" fmla="val 32609"/>
            </a:avLst>
          </a:prstGeom>
          <a:solidFill>
            <a:srgbClr val="DCEAF0"/>
          </a:solidFill>
          <a:ln w="12700">
            <a:solidFill>
              <a:srgbClr val="DC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74536" y="2011680"/>
            <a:ext cx="4206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FRONT GLASS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65392" y="2313432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Low-iron, mechanically durable optical barrier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929384" y="2724912"/>
            <a:ext cx="4663440" cy="420624"/>
          </a:xfrm>
          <a:prstGeom prst="roundRect">
            <a:avLst>
              <a:gd name="adj" fmla="val 32609"/>
            </a:avLst>
          </a:prstGeom>
          <a:solidFill>
            <a:srgbClr val="FEDBA3"/>
          </a:solidFill>
          <a:ln w="12700">
            <a:solidFill>
              <a:srgbClr val="FEDB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4536" y="2688336"/>
            <a:ext cx="4206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FRONT ENCAPSULANT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65392" y="2990088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Bonding, insulation, stress transfer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591056" y="3401568"/>
            <a:ext cx="4663440" cy="420624"/>
          </a:xfrm>
          <a:prstGeom prst="roundRect">
            <a:avLst>
              <a:gd name="adj" fmla="val 32609"/>
            </a:avLst>
          </a:prstGeom>
          <a:solidFill>
            <a:srgbClr val="276084"/>
          </a:solidFill>
          <a:ln w="12700">
            <a:solidFill>
              <a:srgbClr val="2760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536" y="3364992"/>
            <a:ext cx="4206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SOLAR CELL CIRCUIT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3666744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DC electricity generation + interconnection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252728" y="4078224"/>
            <a:ext cx="4663440" cy="420624"/>
          </a:xfrm>
          <a:prstGeom prst="roundRect">
            <a:avLst>
              <a:gd name="adj" fmla="val 32609"/>
            </a:avLst>
          </a:prstGeom>
          <a:solidFill>
            <a:srgbClr val="FFD49C"/>
          </a:solidFill>
          <a:ln w="12700">
            <a:solidFill>
              <a:srgbClr val="FFD4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4041648"/>
            <a:ext cx="4206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REAR ENCAPSULANT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65392" y="4343400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Adhesion and electrical insulation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4754880"/>
            <a:ext cx="4663440" cy="420624"/>
          </a:xfrm>
          <a:prstGeom prst="roundRect">
            <a:avLst>
              <a:gd name="adj" fmla="val 32609"/>
            </a:avLst>
          </a:prstGeom>
          <a:solidFill>
            <a:srgbClr val="D9E0E3"/>
          </a:solidFill>
          <a:ln w="12700">
            <a:solidFill>
              <a:srgbClr val="D9E0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4718304"/>
            <a:ext cx="4206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BACKSHEET / REAR GLASS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65392" y="502005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Moisture and environmental protection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06424" y="584301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+ frame, junction box, cables, seals and connectors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  MODULE CONSTRUCTION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Frame, junction box and bypass diodes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parts you see outside the laminate are essential to electrical safety.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2093976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128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212848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FRAME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807208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Supports module edge and transfers mounting loads.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2012" y="2093976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4892" y="22128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50964" y="2212848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JUNCTION BOX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2324" y="2807208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Protects cable terminations and internal circuit connections.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" y="4078224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41970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71600" y="4197096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BYPASS DIODES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791456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Reduce reverse-bias stress in shaded subcircuits, not all shading loss.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2012" y="4078224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4892" y="41970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50964" y="4197096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CONNECTORS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2324" y="4791456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Require verified mating compatibility and appropriate ratings.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  MODULE CONSTRUCTION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Series, parallel and shading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Electrical topology is the bridge between cells, modules and the inverter.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7552" y="2560320"/>
            <a:ext cx="1097280" cy="1545336"/>
          </a:xfrm>
          <a:prstGeom prst="roundRect">
            <a:avLst>
              <a:gd name="adj" fmla="val 12500"/>
            </a:avLst>
          </a:prstGeom>
          <a:solidFill>
            <a:srgbClr val="242D33"/>
          </a:solidFill>
          <a:ln w="12700">
            <a:solidFill>
              <a:srgbClr val="242D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268833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309981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351129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3355848"/>
            <a:ext cx="320040" cy="0"/>
          </a:xfrm>
          <a:prstGeom prst="line">
            <a:avLst/>
          </a:prstGeom>
          <a:noFill/>
          <a:ln w="38100">
            <a:solidFill>
              <a:srgbClr val="EF473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2560320"/>
            <a:ext cx="1097280" cy="1545336"/>
          </a:xfrm>
          <a:prstGeom prst="roundRect">
            <a:avLst>
              <a:gd name="adj" fmla="val 12500"/>
            </a:avLst>
          </a:prstGeom>
          <a:solidFill>
            <a:srgbClr val="242D33"/>
          </a:solidFill>
          <a:ln w="12700">
            <a:solidFill>
              <a:srgbClr val="242D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78024" y="268833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78024" y="309981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78024" y="351129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2152" y="3355848"/>
            <a:ext cx="320040" cy="0"/>
          </a:xfrm>
          <a:prstGeom prst="line">
            <a:avLst/>
          </a:prstGeom>
          <a:noFill/>
          <a:ln w="38100">
            <a:solidFill>
              <a:srgbClr val="EF47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22192" y="2560320"/>
            <a:ext cx="1097280" cy="1545336"/>
          </a:xfrm>
          <a:prstGeom prst="roundRect">
            <a:avLst>
              <a:gd name="adj" fmla="val 12500"/>
            </a:avLst>
          </a:prstGeom>
          <a:solidFill>
            <a:srgbClr val="242D33"/>
          </a:solidFill>
          <a:ln w="12700">
            <a:solidFill>
              <a:srgbClr val="242D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95344" y="268833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95344" y="309981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95344" y="3511296"/>
            <a:ext cx="950976" cy="329184"/>
          </a:xfrm>
          <a:prstGeom prst="rect">
            <a:avLst>
              <a:gd name="adj" fmla="val 33333"/>
            </a:avLst>
          </a:prstGeom>
          <a:solidFill>
            <a:srgbClr val="275F89"/>
          </a:solidFill>
          <a:ln w="12700">
            <a:solidFill>
              <a:srgbClr val="275F8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663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SERIES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13816" y="5065776"/>
            <a:ext cx="4983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Voltage adds  •  Current is constrained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46520" y="2423160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313432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PARALLEL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720840" y="2624328"/>
            <a:ext cx="454456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Currents add when string voltages are compatible.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46520" y="3627120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517392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BYPASS PATHS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720840" y="3828288"/>
            <a:ext cx="454456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Protect subcircuits under mismatch/shading but do not restore lost sunlight.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4831080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721352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HOME DESIGN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720840" y="5032248"/>
            <a:ext cx="454456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Respect inverter voltage windows and module temperature extremes.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  MODULE CONSTRUCTION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How to read a module datasheet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critical data are more than the headline wattage.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210312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219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Pmax / STC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Nominal peak DC power for the module under reference conditions.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32224" y="210312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5104" y="22219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91176" y="222199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Voc, Isc, Vmp, Imp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2536" y="281635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Voltage/current limits and operating point.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51800" y="210312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4680" y="22219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10752" y="222199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Temperature coefficients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2112" y="281635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Voltage and power changes as the module warms or cools.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" y="408736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2062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71600" y="420624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Mechanical envelope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480060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Dimensions, mass, clamp zones, loading and mounting method.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32224" y="408736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5104" y="42062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91176" y="420624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Safety + wiring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42536" y="480060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Maximum system voltage, fuse rating, fire class, connectors and cable.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51800" y="408736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4680" y="42062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810752" y="420624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Warranty + certification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62112" y="480060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Qualification, product coverage, performance warranty and traceability.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  MANUFACTURING + QUALITY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Electroluminescence: seeing hidden damage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Apply current and use a sensitive camera to inspect cell activity.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" y="2048256"/>
            <a:ext cx="4873752" cy="3630168"/>
          </a:xfrm>
          <a:prstGeom prst="roundRect">
            <a:avLst>
              <a:gd name="adj" fmla="val 3778"/>
            </a:avLst>
          </a:prstGeom>
          <a:solidFill>
            <a:srgbClr val="F1F2F0"/>
          </a:solidFill>
          <a:ln w="12700">
            <a:solidFill>
              <a:srgbClr val="F1F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5296" y="2459736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45973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40864" y="245973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8648" y="245973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2459736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14216" y="245973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45973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5296" y="2944368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3080" y="2944368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0864" y="2944368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98648" y="2944368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6432" y="2944368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14216" y="2944368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944368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296" y="3429000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83080" y="3429000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40864" y="3429000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98648" y="3429000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3429000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14216" y="3429000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3429000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25296" y="3913632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3913632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40864" y="3913632"/>
            <a:ext cx="521208" cy="457200"/>
          </a:xfrm>
          <a:prstGeom prst="rect">
            <a:avLst>
              <a:gd name="adj" fmla="val 24000"/>
            </a:avLst>
          </a:prstGeom>
          <a:solidFill>
            <a:srgbClr val="45494B"/>
          </a:solidFill>
          <a:ln w="12700">
            <a:solidFill>
              <a:srgbClr val="45494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98648" y="3913632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56432" y="3913632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14216" y="3913632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913632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25296" y="4398264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4398264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40864" y="4398264"/>
            <a:ext cx="521208" cy="457200"/>
          </a:xfrm>
          <a:prstGeom prst="rect">
            <a:avLst>
              <a:gd name="adj" fmla="val 24000"/>
            </a:avLst>
          </a:prstGeom>
          <a:solidFill>
            <a:srgbClr val="45494B"/>
          </a:solidFill>
          <a:ln w="12700">
            <a:solidFill>
              <a:srgbClr val="45494B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98648" y="4398264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56432" y="4398264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14216" y="4398264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4398264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25296" y="488289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488289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40864" y="488289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98648" y="4882896"/>
            <a:ext cx="521208" cy="457200"/>
          </a:xfrm>
          <a:prstGeom prst="rect">
            <a:avLst>
              <a:gd name="adj" fmla="val 24000"/>
            </a:avLst>
          </a:prstGeom>
          <a:solidFill>
            <a:srgbClr val="A7A9A7"/>
          </a:solidFill>
          <a:ln w="12700">
            <a:solidFill>
              <a:srgbClr val="A7A9A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488289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14216" y="488289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4882896"/>
            <a:ext cx="521208" cy="457200"/>
          </a:xfrm>
          <a:prstGeom prst="rect">
            <a:avLst>
              <a:gd name="adj" fmla="val 24000"/>
            </a:avLst>
          </a:prstGeom>
          <a:solidFill>
            <a:srgbClr val="8B8E8C"/>
          </a:solidFill>
          <a:ln w="12700">
            <a:solidFill>
              <a:srgbClr val="8B8E8C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13432" y="3776472"/>
            <a:ext cx="694944" cy="877824"/>
          </a:xfrm>
          <a:prstGeom prst="line">
            <a:avLst/>
          </a:prstGeom>
          <a:noFill/>
          <a:ln w="38100">
            <a:solidFill>
              <a:srgbClr val="EF473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15184" y="3849624"/>
            <a:ext cx="649224" cy="539496"/>
          </a:xfrm>
          <a:prstGeom prst="line">
            <a:avLst/>
          </a:prstGeom>
          <a:noFill/>
          <a:ln w="25400">
            <a:solidFill>
              <a:srgbClr val="EF473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80160" y="5495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Conceptual EL image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071616" y="2203704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2093976"/>
            <a:ext cx="5074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CRACKS / ISOLATION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345936" y="2404872"/>
            <a:ext cx="502920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Dark regions can indicate electrically disconnected cell areas.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071616" y="3386328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45936" y="3276600"/>
            <a:ext cx="5074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METALLIZATION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6345936" y="3587496"/>
            <a:ext cx="502920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Finger breaks and contacting defects may appear in EL.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071616" y="4568952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45936" y="4459224"/>
            <a:ext cx="5074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6345936" y="4770120"/>
            <a:ext cx="502920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Interpret images with calibrated conditions and agreed acceptance criteria.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05  RELIABILITY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What tries to break a solar panel?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Outdoor exposure combines thermal, optical, electrical, chemical and mechanical stresses.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207568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1945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19456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THERMAL CYCLING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Daily expansion and contraction stress solder bonds, interfaces and glass.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32224" y="207568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5104" y="21945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91176" y="219456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MOISTURE + HEAT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2536" y="278892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Water ingress can affect polymers, metals and insulation.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51800" y="207568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4680" y="21945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10752" y="219456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UV EXPOSURE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2112" y="278892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Can damage polymer additives, interfaces and certain cell architectures.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" y="4059936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1788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71600" y="4178808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MECHANICAL LOAD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4773168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Wind, snow, handling and hail stress cells, glass and framing.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32224" y="4059936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5104" y="41788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91176" y="4178808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ELECTRICAL BIAS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42536" y="4773168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Potential-induced degradation, leakage and hot spots under specific conditions.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51800" y="4059936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4680" y="41788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810752" y="4178808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SITE ENVIRONMENT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62112" y="4773168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Salt, ammonia, soiling and extreme climates require specific assessment.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05  RELIABILITY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Two essential qualification families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Know what the test series is designed to demonstrate.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2084832"/>
            <a:ext cx="5193792" cy="3456432"/>
          </a:xfrm>
          <a:prstGeom prst="roundRect">
            <a:avLst>
              <a:gd name="adj" fmla="val 3968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1344" y="2084832"/>
            <a:ext cx="5193792" cy="3456432"/>
          </a:xfrm>
          <a:prstGeom prst="roundRect">
            <a:avLst>
              <a:gd name="adj" fmla="val 396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414016"/>
            <a:ext cx="45537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IEC / UL 61215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60704" y="311810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Design qualification / type approval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42416" y="3913632"/>
            <a:ext cx="4498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Representative environmental and mechanical sequences evaluate design robustness and power change.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414016"/>
            <a:ext cx="45537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IEC / UL 61730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501384" y="3118104"/>
            <a:ext cx="4535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Construction + safety qualification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92240" y="3913632"/>
            <a:ext cx="4507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Electrical shock, fire and mechanical safety risks; includes construction rules and prescribed tests.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grid-connected home PV system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Solar modules are only one component in a code-compliant electrical system.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41448"/>
            <a:ext cx="2615184" cy="1636776"/>
          </a:xfrm>
          <a:prstGeom prst="roundRect">
            <a:avLst>
              <a:gd name="adj" fmla="val 838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71576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PV ARRAY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41985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Produces DC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5848" y="3209544"/>
            <a:ext cx="237744" cy="0"/>
          </a:xfrm>
          <a:prstGeom prst="line">
            <a:avLst/>
          </a:prstGeom>
          <a:noFill/>
          <a:ln w="2413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02736" y="2441448"/>
            <a:ext cx="2615184" cy="1636776"/>
          </a:xfrm>
          <a:prstGeom prst="roundRect">
            <a:avLst>
              <a:gd name="adj" fmla="val 8380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271576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POWER ELECTRONICS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58184" y="341985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Controls and converts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27064" y="3209544"/>
            <a:ext cx="237744" cy="0"/>
          </a:xfrm>
          <a:prstGeom prst="line">
            <a:avLst/>
          </a:prstGeom>
          <a:noFill/>
          <a:ln w="2413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73952" y="2441448"/>
            <a:ext cx="2615184" cy="1636776"/>
          </a:xfrm>
          <a:prstGeom prst="roundRect">
            <a:avLst>
              <a:gd name="adj" fmla="val 8380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71576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HOME LOADS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341985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Use AC energy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98280" y="3209544"/>
            <a:ext cx="237744" cy="0"/>
          </a:xfrm>
          <a:prstGeom prst="line">
            <a:avLst/>
          </a:prstGeom>
          <a:noFill/>
          <a:ln w="24130">
            <a:solidFill>
              <a:srgbClr val="F68B2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45168" y="2441448"/>
            <a:ext cx="2615184" cy="1636776"/>
          </a:xfrm>
          <a:prstGeom prst="roundRect">
            <a:avLst>
              <a:gd name="adj" fmla="val 8380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0616" y="271576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UTILITY METER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500616" y="341985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Tracks grid exchange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66744" y="4855464"/>
            <a:ext cx="4864608" cy="868680"/>
          </a:xfrm>
          <a:prstGeom prst="roundRect">
            <a:avLst>
              <a:gd name="adj" fmla="val 15789"/>
            </a:avLst>
          </a:prstGeom>
          <a:solidFill>
            <a:srgbClr val="E8F2F4"/>
          </a:solidFill>
          <a:ln w="12700">
            <a:solidFill>
              <a:srgbClr val="E8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5074920"/>
            <a:ext cx="4407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D75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Optional storage + hybrid inverter / backup controls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Three common inverter architectures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best topology depends on roof geometry, shading, monitoring and cost.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2121408"/>
            <a:ext cx="3621024" cy="3584448"/>
          </a:xfrm>
          <a:prstGeom prst="roundRect">
            <a:avLst>
              <a:gd name="adj" fmla="val 3827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423160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STRING INVERTER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50392" y="3182112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Modules feed one or more DC strings to a central inverter.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50392" y="4407408"/>
            <a:ext cx="3236976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60857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Simple and often economical for uniform roof exposure.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17136" y="2121408"/>
            <a:ext cx="3621024" cy="3584448"/>
          </a:xfrm>
          <a:prstGeom prst="roundRect">
            <a:avLst>
              <a:gd name="adj" fmla="val 3827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423160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DC OPTIMIZERS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700016" y="3182112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Module-level DC electronics feed a compatible string inverter.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700016" y="4407408"/>
            <a:ext cx="3236976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460857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Supports module-level power management and monitoring.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66760" y="2121408"/>
            <a:ext cx="3621024" cy="3584448"/>
          </a:xfrm>
          <a:prstGeom prst="roundRect">
            <a:avLst>
              <a:gd name="adj" fmla="val 3827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2423160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MICROINVERTERS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549640" y="3182112"/>
            <a:ext cx="3218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DC-to-AC conversion occurs at the module.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549640" y="4407408"/>
            <a:ext cx="3236976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460857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Flexible for complex roofs / independent module operation.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Solar + storage: separate three use cases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12648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SELF-CONSUMPTION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Shift midday energy to evening consumption.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2012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4892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50964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TIME-OF-USE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2324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Charge / discharge in response to tariffs and utility programs.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BACKUP POWER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Critical loads require transfer equipment, islanding and system design.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2012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4892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50964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GRID SUPPORT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2324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Export, demand response and power quality capabilities vary by utility.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rooftop is a design constraint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Assess structure, geometry and maintenance access before panel selection.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42416" y="2990088"/>
            <a:ext cx="5239512" cy="1984248"/>
          </a:xfrm>
          <a:prstGeom prst="rect">
            <a:avLst>
              <a:gd name="adj" fmla="val 5530"/>
            </a:avLst>
          </a:prstGeom>
          <a:solidFill>
            <a:srgbClr val="EDEBE7"/>
          </a:solidFill>
          <a:ln w="12700">
            <a:solidFill>
              <a:srgbClr val="EDEBE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929384"/>
            <a:ext cx="5239512" cy="1554480"/>
          </a:xfrm>
          <a:prstGeom prst="triangle">
            <a:avLst/>
          </a:prstGeom>
          <a:solidFill>
            <a:srgbClr val="777E82"/>
          </a:solidFill>
          <a:ln w="12700">
            <a:solidFill>
              <a:srgbClr val="777E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2697480"/>
            <a:ext cx="694944" cy="448056"/>
          </a:xfrm>
          <a:prstGeom prst="roundRect">
            <a:avLst>
              <a:gd name="adj" fmla="val 30612"/>
            </a:avLst>
          </a:prstGeom>
          <a:solidFill>
            <a:srgbClr val="285D80"/>
          </a:solidFill>
          <a:ln w="12700">
            <a:solidFill>
              <a:srgbClr val="192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3264408"/>
            <a:ext cx="694944" cy="448056"/>
          </a:xfrm>
          <a:prstGeom prst="roundRect">
            <a:avLst>
              <a:gd name="adj" fmla="val 30612"/>
            </a:avLst>
          </a:prstGeom>
          <a:solidFill>
            <a:srgbClr val="285D80"/>
          </a:solidFill>
          <a:ln w="12700">
            <a:solidFill>
              <a:srgbClr val="192B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2928" y="2697480"/>
            <a:ext cx="694944" cy="448056"/>
          </a:xfrm>
          <a:prstGeom prst="roundRect">
            <a:avLst>
              <a:gd name="adj" fmla="val 30612"/>
            </a:avLst>
          </a:prstGeom>
          <a:solidFill>
            <a:srgbClr val="285D80"/>
          </a:solidFill>
          <a:ln w="12700">
            <a:solidFill>
              <a:srgbClr val="192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2928" y="3264408"/>
            <a:ext cx="694944" cy="448056"/>
          </a:xfrm>
          <a:prstGeom prst="roundRect">
            <a:avLst>
              <a:gd name="adj" fmla="val 30612"/>
            </a:avLst>
          </a:prstGeom>
          <a:solidFill>
            <a:srgbClr val="285D80"/>
          </a:solidFill>
          <a:ln w="12700">
            <a:solidFill>
              <a:srgbClr val="192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2697480"/>
            <a:ext cx="694944" cy="448056"/>
          </a:xfrm>
          <a:prstGeom prst="roundRect">
            <a:avLst>
              <a:gd name="adj" fmla="val 30612"/>
            </a:avLst>
          </a:prstGeom>
          <a:solidFill>
            <a:srgbClr val="285D80"/>
          </a:solidFill>
          <a:ln w="12700">
            <a:solidFill>
              <a:srgbClr val="192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3264408"/>
            <a:ext cx="694944" cy="448056"/>
          </a:xfrm>
          <a:prstGeom prst="roundRect">
            <a:avLst>
              <a:gd name="adj" fmla="val 30612"/>
            </a:avLst>
          </a:prstGeom>
          <a:solidFill>
            <a:srgbClr val="285D80"/>
          </a:solidFill>
          <a:ln w="12700">
            <a:solidFill>
              <a:srgbClr val="192B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6288" y="2258568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2148840"/>
            <a:ext cx="4151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STRUCTURE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50608" y="2459736"/>
            <a:ext cx="41056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Capacity, roof condition, fastener detail, wind/uplift and fire classification.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76288" y="3416808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3307080"/>
            <a:ext cx="4151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GEOMETRY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150608" y="3617976"/>
            <a:ext cx="41056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Slope, orientation, obstructions, setbacks, walkways and shading.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76288" y="4575048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4465320"/>
            <a:ext cx="4151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LIFECYCLE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50608" y="4776216"/>
            <a:ext cx="410565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Roof replacement timing, maintenance and future removals.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623560"/>
            <a:ext cx="5212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Conceptual roof — not a permitted layout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regulatory stack for US home solar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Certification, installation code, utility requirements and local permits are separate layers.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2084832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203704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MODULE + EQUIPMENT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798064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UL 61730 / IEC 61215; inverter and power electronics listings (e.g., UL 1741 as applicable).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32224" y="2084832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5104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91176" y="2203704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NATIONAL ELECTRICAL CODE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2536" y="2798064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NFPA 70, especially PV/energy storage articles; edition depends on jurisdiction.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51800" y="2084832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4680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10752" y="2203704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ROOF + FIRE + BUILDING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2112" y="2798064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Local structural, building and fire codes, approved mounting details.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" y="406908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71600" y="418795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UTILITY INTERCONNECTION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478231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Utility rules, grid protection, metering and commissioning.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32224" y="406908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5104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91176" y="418795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LOCAL AUTHORITY / AHJ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42536" y="478231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Permit submission, inspections, fees and approval to energize.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51800" y="406908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4680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810752" y="418795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CONTRACTOR / SAFETY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62112" y="478231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Licensing and qualification requirements for electrical work differ by state / locality.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DIY boundary: electrical safety is non-negotiable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panel exposed to light is an active DC source, even when the utility is down.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2103120"/>
            <a:ext cx="5038344" cy="3602736"/>
          </a:xfrm>
          <a:prstGeom prst="roundRect">
            <a:avLst>
              <a:gd name="adj" fmla="val 3807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3774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F473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DO NOT ASSUME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1143000" y="3236976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8176" y="3118104"/>
            <a:ext cx="3849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breaker turns off a sunlit module.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3892296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3773424"/>
            <a:ext cx="3849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bypass diode provides rapid shutdown.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143000" y="4547616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8176" y="4428744"/>
            <a:ext cx="3849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Mated-looking connectors are automatically compatible.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080760" y="2103120"/>
            <a:ext cx="5321808" cy="3602736"/>
          </a:xfrm>
          <a:prstGeom prst="roundRect">
            <a:avLst>
              <a:gd name="adj" fmla="val 3807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23774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VERIFY WITH YOUR AHJ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446520" y="3090672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2971800"/>
            <a:ext cx="4251960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Permitting and applicable adopted NEC edition.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3687318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3568446"/>
            <a:ext cx="4251960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Listed equipment and rapid-shutdown design.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4283964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4165092"/>
            <a:ext cx="4251960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Grounding, wiring, roof attachment and fire access.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6520" y="4880610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4761738"/>
            <a:ext cx="4251960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Licensed electrician / installer responsibilities.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homeowner-safe project workflow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12648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1. SITE + LOAD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Gather annual bills, future EV/heat pump loads, roof condition and photos.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2012" y="2084832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4892" y="2203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50964" y="2203704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2. FEASIBILITY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2324" y="2798064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Estimate shade, usable roof area and energy production.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3. DESIGN + PERMIT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Qualified design, equipment selection, structural and electrical review.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2012" y="4069080"/>
            <a:ext cx="5387340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4892" y="4187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50964" y="4187952"/>
            <a:ext cx="44089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4. INSTALL + VERIFY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2324" y="4782312"/>
            <a:ext cx="4966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Follow local licensing, inspections, utility approval and commissioning.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Home sizing: a simple example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Illustrative only—replace inputs with actual site and utility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2084832"/>
            <a:ext cx="3374136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7627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9,600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960120" y="294436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kWh / year of use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5696" y="2084832"/>
            <a:ext cx="3374136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17627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1,300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4590288" y="294436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kWh / kWdc / year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74152" y="2084832"/>
            <a:ext cx="3374136" cy="1463040"/>
          </a:xfrm>
          <a:prstGeom prst="roundRect">
            <a:avLst>
              <a:gd name="adj" fmla="val 937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217627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7.4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8238744" y="294436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kWdc rough size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" y="3950208"/>
            <a:ext cx="10351008" cy="1389888"/>
          </a:xfrm>
          <a:prstGeom prst="roundRect">
            <a:avLst>
              <a:gd name="adj" fmla="val 9868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169664"/>
            <a:ext cx="9747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Required DC size  ≈  annual load ÷ modeled specific yield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60704" y="55504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Actual design changes with self-consumption goals, net billing, roof area, losses and future loads.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US federal homeowner tax-credit update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Current as of October 2026; verify incentives immediately before committing.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" y="2240280"/>
            <a:ext cx="10469880" cy="2148840"/>
          </a:xfrm>
          <a:prstGeom prst="roundRect">
            <a:avLst>
              <a:gd name="adj" fmla="val 6383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569464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SECTION 25D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06424" y="3108960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F473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Ended for post-2025 installations</a:t>
            </a:r>
            <a:endParaRPr lang="en-US" sz="3100" dirty="0"/>
          </a:p>
        </p:txBody>
      </p:sp>
      <p:sp>
        <p:nvSpPr>
          <p:cNvPr id="14" name="Shape 12"/>
          <p:cNvSpPr/>
          <p:nvPr/>
        </p:nvSpPr>
        <p:spPr>
          <a:xfrm>
            <a:off x="1078992" y="4745736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3312" y="4636008"/>
            <a:ext cx="9738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IRS GUIDANCE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53312" y="4946904"/>
            <a:ext cx="9692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30% residential clean energy credit is unavailable for installations completed after December 31, 2025.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78992" y="5317236"/>
            <a:ext cx="105156" cy="105156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5207508"/>
            <a:ext cx="9738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ALTERNATIVES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53312" y="5518404"/>
            <a:ext cx="9692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Explore eligible state/local programs and utility incentives; program rules vary.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  HOME SYSTEMS + CODES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Home solar: questions to ask before buying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Use these questions to structure a consultation or homeowner workshop.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205740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176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17627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ROOF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77063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Will it last as long as the array? Is there a structural review?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32224" y="205740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5104" y="2176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91176" y="217627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SUN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2536" y="277063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Is there a defensible shade / energy production model?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51800" y="2057400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4680" y="2176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810752" y="2176272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HARDWARE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2112" y="2770632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Is module, inverter, racking and connector compatibility documented?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" y="404164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160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71600" y="416052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SAFETY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Who owns permits, rapid shutdown, wiring, inspection and interconnection?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32224" y="404164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5104" y="4160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91176" y="416052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MONEY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42536" y="475488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What is the utility rate, export compensation and all-in installed price?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51800" y="4041648"/>
            <a:ext cx="3527552" cy="1783080"/>
          </a:xfrm>
          <a:prstGeom prst="roundRect">
            <a:avLst>
              <a:gd name="adj" fmla="val 769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4680" y="4160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810752" y="4160520"/>
            <a:ext cx="2549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LIFETIME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62112" y="4754880"/>
            <a:ext cx="310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Who handles monitoring, warranty claims, roof removal and maintenance?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The five ideas to take home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Technology choice, installation quality and lifetime behavior are inseparable.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039112"/>
            <a:ext cx="384048" cy="3840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1965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Sunlight becomes DC through a semiconductor cell.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2807208"/>
            <a:ext cx="384048" cy="3840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73405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module is an engineered stack, not just a silicon wafer.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" y="3575304"/>
            <a:ext cx="384048" cy="3840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5021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Nameplate watts are a controlled rating—not daily or annual energy.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8680" y="4343400"/>
            <a:ext cx="384048" cy="3840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27024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Reliability depends on materials, production, qualification and the site.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5111496"/>
            <a:ext cx="384048" cy="384048"/>
          </a:xfrm>
          <a:prstGeom prst="ellipse">
            <a:avLst/>
          </a:prstGeom>
          <a:solidFill>
            <a:srgbClr val="EF473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38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03834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 safe home system needs qualified design, permits and commissioning.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>
              <a:gd name="adj" fmla="val 100000"/>
            </a:avLst>
          </a:prstGeom>
          <a:solidFill>
            <a:srgbClr val="F68B20"/>
          </a:solidFill>
          <a:ln w="12700">
            <a:solidFill>
              <a:srgbClr val="F68B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48056"/>
            <a:ext cx="155448" cy="155448"/>
          </a:xfrm>
          <a:prstGeom prst="ellipse">
            <a:avLst/>
          </a:prstGeom>
          <a:solidFill>
            <a:srgbClr val="F68B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20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SOURCE ACKNOWLEDGMENTS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38360" y="420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E6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0138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INTUITIVE ENERGY  |  PV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9326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D33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Technical references and reuse guidance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30936" y="1517904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0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An original training synthesis, not a reproduction of another organization’s deck.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" y="2057400"/>
            <a:ext cx="10698480" cy="1069848"/>
          </a:xfrm>
          <a:prstGeom prst="roundRect">
            <a:avLst>
              <a:gd name="adj" fmla="val 12821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231136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PROVIDED MATERIALS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31336" y="2221992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Fraunhofer ISE 2025 training: cell physics / architecture, cell quality, module production, module reliability; Trina–Fraunhofer LCOE study; SolX PV overview (content reference only).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0664" y="3310128"/>
            <a:ext cx="10698480" cy="1069848"/>
          </a:xfrm>
          <a:prstGeom prst="roundRect">
            <a:avLst>
              <a:gd name="adj" fmla="val 12821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483864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PUBLIC TECHNICAL REFERENCES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31336" y="347472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U.S. Department of Energy PV basics and system design; UL Solutions PV qualification; PVWatts V8 documentation; IRS 2026 federal credit guidance.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0664" y="4562856"/>
            <a:ext cx="10698480" cy="1069848"/>
          </a:xfrm>
          <a:prstGeom prst="roundRect">
            <a:avLst>
              <a:gd name="adj" fmla="val 1282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736592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8B2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SOURCE RIGHTS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31336" y="472744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0363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Some supplied Fraunhofer material was marked restricted or confidential. This presentation recreates concepts with new figures; confirm permission before externally distributing sensitive source-derived details.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oxima Nov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oxima Nov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Intuitive Energy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Intuitive Energy | PV Technology</dc:title>
  <dc:subject>Photovoltaic technology training and DIY home solar education</dc:subject>
  <dc:creator>Intuitive Energy</dc:creator>
  <cp:lastModifiedBy>Intuitive Energy</cp:lastModifiedBy>
  <cp:revision>1</cp:revision>
  <dcterms:created xsi:type="dcterms:W3CDTF">2026-10-10T00:49:04Z</dcterms:created>
  <dcterms:modified xsi:type="dcterms:W3CDTF">2026-10-10T00:49:04Z</dcterms:modified>
</cp:coreProperties>
</file>